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imes New Roman Bold" charset="1" panose="02020803070505020304"/>
      <p:regular r:id="rId15"/>
    </p:embeddedFont>
    <p:embeddedFont>
      <p:font typeface="Times New Roman" charset="1" panose="02020603050405020304"/>
      <p:regular r:id="rId16"/>
    </p:embeddedFont>
    <p:embeddedFont>
      <p:font typeface="Anton" charset="1" panose="00000500000000000000"/>
      <p:regular r:id="rId17"/>
    </p:embeddedFont>
    <p:embeddedFont>
      <p:font typeface="Poppins" charset="1" panose="00000500000000000000"/>
      <p:regular r:id="rId18"/>
    </p:embeddedFont>
    <p:embeddedFont>
      <p:font typeface="Poppins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png" Type="http://schemas.openxmlformats.org/officeDocument/2006/relationships/image"/><Relationship Id="rId12" Target="../media/image31.png" Type="http://schemas.openxmlformats.org/officeDocument/2006/relationships/image"/><Relationship Id="rId13" Target="../media/image32.png" Type="http://schemas.openxmlformats.org/officeDocument/2006/relationships/image"/><Relationship Id="rId14" Target="../media/image33.png" Type="http://schemas.openxmlformats.org/officeDocument/2006/relationships/image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7792" y="1247775"/>
            <a:ext cx="14900871" cy="205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1"/>
              </a:lnSpc>
            </a:pPr>
            <a:r>
              <a:rPr lang="en-US" b="true" sz="14971" spc="-2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GRIDPULSE </a:t>
            </a:r>
            <a:r>
              <a:rPr lang="en-US" b="true" sz="14971" spc="-299">
                <a:solidFill>
                  <a:srgbClr val="F482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0946" y="3095735"/>
            <a:ext cx="9015984" cy="566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6"/>
              </a:lnSpc>
            </a:pPr>
            <a:r>
              <a:rPr lang="en-US" sz="320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Outage &amp; Grid Equipment Failure Advisor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5892" y="4013954"/>
            <a:ext cx="10040112" cy="624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1"/>
              </a:lnSpc>
            </a:pPr>
            <a:r>
              <a:rPr lang="en-US" sz="3529" b="true">
                <a:solidFill>
                  <a:srgbClr val="F482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Detect. Explain. Recommend. Simulate. Act.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572000" y="6000750"/>
            <a:ext cx="219075" cy="1285875"/>
          </a:xfrm>
          <a:custGeom>
            <a:avLst/>
            <a:gdLst/>
            <a:ahLst/>
            <a:cxnLst/>
            <a:rect r="r" b="b" t="t" l="l"/>
            <a:pathLst>
              <a:path h="1285875" w="219075">
                <a:moveTo>
                  <a:pt x="0" y="0"/>
                </a:moveTo>
                <a:lnTo>
                  <a:pt x="219075" y="0"/>
                </a:lnTo>
                <a:lnTo>
                  <a:pt x="2190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65892" y="5438775"/>
            <a:ext cx="8048891" cy="3074209"/>
            <a:chOff x="0" y="0"/>
            <a:chExt cx="10731855" cy="409894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4822992" cy="4915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1"/>
                </a:lnSpc>
              </a:pPr>
              <a:r>
                <a:rPr lang="en-US" sz="2172" b="true">
                  <a:solidFill>
                    <a:srgbClr val="F482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TEAM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62607"/>
              <a:ext cx="4340352" cy="7264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6"/>
                </a:lnSpc>
              </a:pPr>
              <a:r>
                <a:rPr lang="en-US" sz="320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Eat-Code-Sleep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5949696" y="-57150"/>
              <a:ext cx="4782159" cy="4915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1"/>
                </a:lnSpc>
              </a:pPr>
              <a:r>
                <a:rPr lang="en-US" sz="2172" b="true">
                  <a:solidFill>
                    <a:srgbClr val="F482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TRACK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949696" y="462607"/>
              <a:ext cx="2391080" cy="7264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6"/>
                </a:lnSpc>
              </a:pPr>
              <a:r>
                <a:rPr lang="en-US" sz="320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AI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2774374"/>
              <a:ext cx="7530287" cy="1324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44"/>
                </a:lnSpc>
              </a:pPr>
              <a:r>
                <a:rPr lang="en-US" sz="2888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Darshan Thummar , Kishan Vadsola , Vishv  Undavia , Shreeja Updhayay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192274"/>
              <a:ext cx="8340776" cy="4915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1"/>
                </a:lnSpc>
              </a:pPr>
              <a:r>
                <a:rPr lang="en-US" sz="2172" b="true">
                  <a:solidFill>
                    <a:srgbClr val="F482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TEAM MEMBERS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1248" y="1067506"/>
            <a:ext cx="7973568" cy="1762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34"/>
              </a:lnSpc>
            </a:pPr>
            <a:r>
              <a:rPr lang="en-US" sz="1253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THE </a:t>
            </a:r>
            <a:r>
              <a:rPr lang="en-US" sz="12532">
                <a:solidFill>
                  <a:srgbClr val="FF863B"/>
                </a:solidFill>
                <a:latin typeface="Anton"/>
                <a:ea typeface="Anton"/>
                <a:cs typeface="Anton"/>
                <a:sym typeface="Anton"/>
              </a:rPr>
              <a:t>PROBLEM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1248" y="2950128"/>
            <a:ext cx="5285232" cy="87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6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Outages are often predictable but action comes too late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1248" y="4133133"/>
            <a:ext cx="4645152" cy="87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6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Early warning signals exist but go unseen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1248" y="5305851"/>
            <a:ext cx="5120640" cy="87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6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is siloed across systems and conditions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1248" y="6746025"/>
            <a:ext cx="4279392" cy="252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0"/>
              </a:lnSpc>
            </a:pPr>
            <a:r>
              <a:rPr lang="en-US" sz="15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Maintenance is reactive or calendar-driven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1248" y="7558704"/>
            <a:ext cx="4389120" cy="87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6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Failures can cascade into widespread outages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1248" y="8710848"/>
            <a:ext cx="4187952" cy="87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6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Operators lack a single, actionable risk 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2728" y="682439"/>
            <a:ext cx="17622545" cy="8348681"/>
          </a:xfrm>
          <a:custGeom>
            <a:avLst/>
            <a:gdLst/>
            <a:ahLst/>
            <a:cxnLst/>
            <a:rect r="r" b="b" t="t" l="l"/>
            <a:pathLst>
              <a:path h="8348681" w="17622545">
                <a:moveTo>
                  <a:pt x="0" y="0"/>
                </a:moveTo>
                <a:lnTo>
                  <a:pt x="17622544" y="0"/>
                </a:lnTo>
                <a:lnTo>
                  <a:pt x="17622544" y="8348681"/>
                </a:lnTo>
                <a:lnTo>
                  <a:pt x="0" y="83486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00625" y="7862888"/>
            <a:ext cx="13287375" cy="2790825"/>
          </a:xfrm>
          <a:custGeom>
            <a:avLst/>
            <a:gdLst/>
            <a:ahLst/>
            <a:cxnLst/>
            <a:rect r="r" b="b" t="t" l="l"/>
            <a:pathLst>
              <a:path h="2790825" w="13287375">
                <a:moveTo>
                  <a:pt x="0" y="0"/>
                </a:moveTo>
                <a:lnTo>
                  <a:pt x="13287375" y="0"/>
                </a:lnTo>
                <a:lnTo>
                  <a:pt x="13287375" y="2790824"/>
                </a:lnTo>
                <a:lnTo>
                  <a:pt x="0" y="27908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3772" y="362970"/>
            <a:ext cx="17005528" cy="8693126"/>
          </a:xfrm>
          <a:custGeom>
            <a:avLst/>
            <a:gdLst/>
            <a:ahLst/>
            <a:cxnLst/>
            <a:rect r="r" b="b" t="t" l="l"/>
            <a:pathLst>
              <a:path h="8693126" w="17005528">
                <a:moveTo>
                  <a:pt x="0" y="0"/>
                </a:moveTo>
                <a:lnTo>
                  <a:pt x="17005528" y="0"/>
                </a:lnTo>
                <a:lnTo>
                  <a:pt x="17005528" y="8693126"/>
                </a:lnTo>
                <a:lnTo>
                  <a:pt x="0" y="86931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22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9536" y="410792"/>
            <a:ext cx="12637389" cy="165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44"/>
              </a:lnSpc>
            </a:pPr>
            <a:r>
              <a:rPr lang="en-US" sz="11944" spc="4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</a:t>
            </a:r>
            <a:r>
              <a:rPr lang="en-US" sz="11944" spc="406">
                <a:solidFill>
                  <a:srgbClr val="F46B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9536" y="2230734"/>
            <a:ext cx="5486400" cy="960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0"/>
              </a:lnSpc>
            </a:pPr>
            <a:r>
              <a:rPr lang="en-US" sz="2693" spc="9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modular AI platform that</a:t>
            </a:r>
          </a:p>
          <a:p>
            <a:pPr algn="l">
              <a:lnSpc>
                <a:spcPts val="3770"/>
              </a:lnSpc>
            </a:pPr>
            <a:r>
              <a:rPr lang="en-US" sz="2693" spc="9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turns data into outage foresight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8586" y="3373267"/>
            <a:ext cx="3236214" cy="38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</a:pPr>
            <a:r>
              <a:rPr lang="en-US" sz="2176" spc="74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React Dashboard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9536" y="3733312"/>
            <a:ext cx="2907792" cy="38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</a:pPr>
            <a:r>
              <a:rPr lang="en-US" sz="2176" spc="74">
                <a:solidFill>
                  <a:srgbClr val="F46B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visibility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9536" y="4340245"/>
            <a:ext cx="2743200" cy="38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</a:pPr>
            <a:r>
              <a:rPr lang="en-US" sz="2176" spc="74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FastAPI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9536" y="4700290"/>
            <a:ext cx="3602736" cy="38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</a:pPr>
            <a:r>
              <a:rPr lang="en-US" sz="2176" spc="74">
                <a:solidFill>
                  <a:srgbClr val="F46B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high-performance backend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9536" y="5307223"/>
            <a:ext cx="2907792" cy="38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</a:pPr>
            <a:r>
              <a:rPr lang="en-US" sz="2176" spc="74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PostgreSQL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9536" y="5667268"/>
            <a:ext cx="2907792" cy="38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</a:pPr>
            <a:r>
              <a:rPr lang="en-US" sz="2176" spc="74">
                <a:solidFill>
                  <a:srgbClr val="F46B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reliable relational data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9536" y="6274201"/>
            <a:ext cx="2743200" cy="38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</a:pPr>
            <a:r>
              <a:rPr lang="en-US" sz="2176" spc="74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Neo4j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9536" y="6634246"/>
            <a:ext cx="3602736" cy="38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</a:pPr>
            <a:r>
              <a:rPr lang="en-US" sz="2176" spc="74">
                <a:solidFill>
                  <a:srgbClr val="F46B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 grid intelligence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9536" y="7189744"/>
            <a:ext cx="3602736" cy="38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</a:pPr>
            <a:r>
              <a:rPr lang="en-US" sz="2176" spc="74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IBM watsonx.ai / Granite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9536" y="7549789"/>
            <a:ext cx="3255264" cy="38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</a:pPr>
            <a:r>
              <a:rPr lang="en-US" sz="2176" spc="74">
                <a:solidFill>
                  <a:srgbClr val="F46B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AI foundation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9536" y="8105287"/>
            <a:ext cx="1801368" cy="38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</a:pPr>
            <a:r>
              <a:rPr lang="en-US" sz="2176" spc="74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Risk engines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9536" y="8510058"/>
            <a:ext cx="4133088" cy="1420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176" spc="74">
                <a:solidFill>
                  <a:srgbClr val="F46B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DGA analysis</a:t>
            </a:r>
          </a:p>
          <a:p>
            <a:pPr algn="l">
              <a:lnSpc>
                <a:spcPts val="2829"/>
              </a:lnSpc>
            </a:pPr>
            <a:r>
              <a:rPr lang="en-US" sz="2176" spc="74">
                <a:solidFill>
                  <a:srgbClr val="F46B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temperature/vibration analysis</a:t>
            </a:r>
          </a:p>
          <a:p>
            <a:pPr algn="l">
              <a:lnSpc>
                <a:spcPts val="2829"/>
              </a:lnSpc>
            </a:pPr>
            <a:r>
              <a:rPr lang="en-US" sz="2176" spc="74">
                <a:solidFill>
                  <a:srgbClr val="F46B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weather risk</a:t>
            </a:r>
          </a:p>
          <a:p>
            <a:pPr algn="l">
              <a:lnSpc>
                <a:spcPts val="2829"/>
              </a:lnSpc>
            </a:pPr>
            <a:r>
              <a:rPr lang="en-US" sz="2176" spc="74">
                <a:solidFill>
                  <a:srgbClr val="F46B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cascade/topology analysis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400925" y="1495425"/>
            <a:ext cx="6534150" cy="8791575"/>
          </a:xfrm>
          <a:custGeom>
            <a:avLst/>
            <a:gdLst/>
            <a:ahLst/>
            <a:cxnLst/>
            <a:rect r="r" b="b" t="t" l="l"/>
            <a:pathLst>
              <a:path h="8791575" w="6534150">
                <a:moveTo>
                  <a:pt x="0" y="0"/>
                </a:moveTo>
                <a:lnTo>
                  <a:pt x="6534150" y="0"/>
                </a:lnTo>
                <a:lnTo>
                  <a:pt x="6534150" y="8791575"/>
                </a:lnTo>
                <a:lnTo>
                  <a:pt x="0" y="8791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496925" y="2352675"/>
            <a:ext cx="1743075" cy="438150"/>
          </a:xfrm>
          <a:custGeom>
            <a:avLst/>
            <a:gdLst/>
            <a:ahLst/>
            <a:cxnLst/>
            <a:rect r="r" b="b" t="t" l="l"/>
            <a:pathLst>
              <a:path h="438150" w="1743075">
                <a:moveTo>
                  <a:pt x="0" y="0"/>
                </a:moveTo>
                <a:lnTo>
                  <a:pt x="1743075" y="0"/>
                </a:lnTo>
                <a:lnTo>
                  <a:pt x="17430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416784" y="2384584"/>
            <a:ext cx="1810512" cy="657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7"/>
              </a:lnSpc>
            </a:pPr>
            <a:r>
              <a:rPr lang="en-US" sz="1862" spc="6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INTERFACE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3496925" y="3857625"/>
            <a:ext cx="1743075" cy="219075"/>
          </a:xfrm>
          <a:custGeom>
            <a:avLst/>
            <a:gdLst/>
            <a:ahLst/>
            <a:cxnLst/>
            <a:rect r="r" b="b" t="t" l="l"/>
            <a:pathLst>
              <a:path h="219075" w="1743075">
                <a:moveTo>
                  <a:pt x="0" y="0"/>
                </a:moveTo>
                <a:lnTo>
                  <a:pt x="1743075" y="0"/>
                </a:lnTo>
                <a:lnTo>
                  <a:pt x="17430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416784" y="3783616"/>
            <a:ext cx="2304288" cy="657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7"/>
              </a:lnSpc>
            </a:pPr>
            <a:r>
              <a:rPr lang="en-US" sz="1862" spc="6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LAYER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496925" y="4924425"/>
            <a:ext cx="1743075" cy="219075"/>
          </a:xfrm>
          <a:custGeom>
            <a:avLst/>
            <a:gdLst/>
            <a:ahLst/>
            <a:cxnLst/>
            <a:rect r="r" b="b" t="t" l="l"/>
            <a:pathLst>
              <a:path h="219075" w="1743075">
                <a:moveTo>
                  <a:pt x="0" y="0"/>
                </a:moveTo>
                <a:lnTo>
                  <a:pt x="1743075" y="0"/>
                </a:lnTo>
                <a:lnTo>
                  <a:pt x="17430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496925" y="6210300"/>
            <a:ext cx="1743075" cy="219075"/>
          </a:xfrm>
          <a:custGeom>
            <a:avLst/>
            <a:gdLst/>
            <a:ahLst/>
            <a:cxnLst/>
            <a:rect r="r" b="b" t="t" l="l"/>
            <a:pathLst>
              <a:path h="219075" w="1743075">
                <a:moveTo>
                  <a:pt x="0" y="0"/>
                </a:moveTo>
                <a:lnTo>
                  <a:pt x="1743075" y="0"/>
                </a:lnTo>
                <a:lnTo>
                  <a:pt x="17430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416784" y="6190774"/>
            <a:ext cx="1609344" cy="657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7"/>
              </a:lnSpc>
            </a:pPr>
            <a:r>
              <a:rPr lang="en-US" sz="1862" spc="6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LAYER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3496925" y="7496175"/>
            <a:ext cx="1743075" cy="219075"/>
          </a:xfrm>
          <a:custGeom>
            <a:avLst/>
            <a:gdLst/>
            <a:ahLst/>
            <a:cxnLst/>
            <a:rect r="r" b="b" t="t" l="l"/>
            <a:pathLst>
              <a:path h="219075" w="1743075">
                <a:moveTo>
                  <a:pt x="0" y="0"/>
                </a:moveTo>
                <a:lnTo>
                  <a:pt x="1743075" y="0"/>
                </a:lnTo>
                <a:lnTo>
                  <a:pt x="17430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496925" y="8572500"/>
            <a:ext cx="1743075" cy="428625"/>
          </a:xfrm>
          <a:custGeom>
            <a:avLst/>
            <a:gdLst/>
            <a:ahLst/>
            <a:cxnLst/>
            <a:rect r="r" b="b" t="t" l="l"/>
            <a:pathLst>
              <a:path h="428625" w="1743075">
                <a:moveTo>
                  <a:pt x="0" y="0"/>
                </a:moveTo>
                <a:lnTo>
                  <a:pt x="1743075" y="0"/>
                </a:lnTo>
                <a:lnTo>
                  <a:pt x="17430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5416784" y="8659654"/>
            <a:ext cx="1627632" cy="657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7"/>
              </a:lnSpc>
            </a:pPr>
            <a:r>
              <a:rPr lang="en-US" sz="1862" spc="6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ENGINES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416784" y="4904899"/>
            <a:ext cx="1408176" cy="657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7"/>
              </a:lnSpc>
            </a:pPr>
            <a:r>
              <a:rPr lang="en-US" sz="1862" spc="6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LAYER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416784" y="7456075"/>
            <a:ext cx="1106942" cy="657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7"/>
              </a:lnSpc>
            </a:pPr>
            <a:r>
              <a:rPr lang="en-US" sz="1862" spc="6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LAYER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7700" y="666936"/>
            <a:ext cx="18085703" cy="129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10"/>
              </a:lnSpc>
            </a:pPr>
            <a:r>
              <a:rPr lang="en-US" sz="9310" spc="49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 / </a:t>
            </a:r>
            <a:r>
              <a:rPr lang="en-US" sz="9310" spc="493">
                <a:solidFill>
                  <a:srgbClr val="E477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007985" y="9258300"/>
            <a:ext cx="12608814" cy="657225"/>
            <a:chOff x="0" y="0"/>
            <a:chExt cx="16811752" cy="8763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61037"/>
              <a:ext cx="2048256" cy="522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1"/>
                </a:lnSpc>
              </a:pPr>
              <a:r>
                <a:rPr lang="en-US" sz="2771" spc="146">
                  <a:solidFill>
                    <a:srgbClr val="E4772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DETECT</a:t>
              </a:r>
            </a:p>
          </p:txBody>
        </p:sp>
        <p:sp>
          <p:nvSpPr>
            <p:cNvPr name="Freeform 6" id="6"/>
            <p:cNvSpPr/>
            <p:nvPr/>
          </p:nvSpPr>
          <p:spPr>
            <a:xfrm flipH="false" flipV="false" rot="0">
              <a:off x="1845056" y="0"/>
              <a:ext cx="2324100" cy="863600"/>
            </a:xfrm>
            <a:custGeom>
              <a:avLst/>
              <a:gdLst/>
              <a:ahLst/>
              <a:cxnLst/>
              <a:rect r="r" b="b" t="t" l="l"/>
              <a:pathLst>
                <a:path h="863600" w="2324100">
                  <a:moveTo>
                    <a:pt x="0" y="0"/>
                  </a:moveTo>
                  <a:lnTo>
                    <a:pt x="2324100" y="0"/>
                  </a:lnTo>
                  <a:lnTo>
                    <a:pt x="2324100" y="863600"/>
                  </a:lnTo>
                  <a:lnTo>
                    <a:pt x="0" y="8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4379468" y="286437"/>
              <a:ext cx="2267712" cy="522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1"/>
                </a:lnSpc>
              </a:pPr>
              <a:r>
                <a:rPr lang="en-US" sz="2771" spc="146">
                  <a:solidFill>
                    <a:srgbClr val="E4772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EXPLAIN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6799580" y="12700"/>
              <a:ext cx="2044700" cy="863600"/>
            </a:xfrm>
            <a:custGeom>
              <a:avLst/>
              <a:gdLst/>
              <a:ahLst/>
              <a:cxnLst/>
              <a:rect r="r" b="b" t="t" l="l"/>
              <a:pathLst>
                <a:path h="863600" w="2044700">
                  <a:moveTo>
                    <a:pt x="0" y="0"/>
                  </a:moveTo>
                  <a:lnTo>
                    <a:pt x="2044700" y="0"/>
                  </a:lnTo>
                  <a:lnTo>
                    <a:pt x="2044700" y="863600"/>
                  </a:lnTo>
                  <a:lnTo>
                    <a:pt x="0" y="8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9014460" y="261037"/>
              <a:ext cx="2950464" cy="522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1"/>
                </a:lnSpc>
              </a:pPr>
              <a:r>
                <a:rPr lang="en-US" sz="2771" spc="146">
                  <a:solidFill>
                    <a:srgbClr val="E4772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PRIORITIZE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12117324" y="12700"/>
              <a:ext cx="1752600" cy="863600"/>
            </a:xfrm>
            <a:custGeom>
              <a:avLst/>
              <a:gdLst/>
              <a:ahLst/>
              <a:cxnLst/>
              <a:rect r="r" b="b" t="t" l="l"/>
              <a:pathLst>
                <a:path h="863600" w="1752600">
                  <a:moveTo>
                    <a:pt x="0" y="0"/>
                  </a:moveTo>
                  <a:lnTo>
                    <a:pt x="1752600" y="0"/>
                  </a:lnTo>
                  <a:lnTo>
                    <a:pt x="1752600" y="863600"/>
                  </a:lnTo>
                  <a:lnTo>
                    <a:pt x="0" y="8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4105128" y="261037"/>
              <a:ext cx="2706624" cy="522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1"/>
                </a:lnSpc>
              </a:pPr>
              <a:r>
                <a:rPr lang="en-US" sz="2771" spc="146">
                  <a:solidFill>
                    <a:srgbClr val="E4772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DISPATCH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29961" y="2276985"/>
            <a:ext cx="13084230" cy="6108700"/>
          </a:xfrm>
          <a:custGeom>
            <a:avLst/>
            <a:gdLst/>
            <a:ahLst/>
            <a:cxnLst/>
            <a:rect r="r" b="b" t="t" l="l"/>
            <a:pathLst>
              <a:path h="6108700" w="13084230">
                <a:moveTo>
                  <a:pt x="0" y="0"/>
                </a:moveTo>
                <a:lnTo>
                  <a:pt x="13084230" y="0"/>
                </a:lnTo>
                <a:lnTo>
                  <a:pt x="13084230" y="6108700"/>
                </a:lnTo>
                <a:lnTo>
                  <a:pt x="0" y="610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3758031" y="2137916"/>
            <a:ext cx="3858768" cy="6247769"/>
            <a:chOff x="0" y="0"/>
            <a:chExt cx="5145024" cy="8330358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66675"/>
              <a:ext cx="4901184" cy="1292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40"/>
                </a:lnSpc>
              </a:pPr>
              <a:r>
                <a:rPr lang="en-US" sz="2814" spc="14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See overall grid health at a glance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675257"/>
              <a:ext cx="4047744" cy="1292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40"/>
                </a:lnSpc>
              </a:pPr>
              <a:r>
                <a:rPr lang="en-US" sz="2814" spc="14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Identify the assets that matter most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3540633"/>
              <a:ext cx="4389120" cy="1292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40"/>
                </a:lnSpc>
              </a:pPr>
              <a:r>
                <a:rPr lang="en-US" sz="2814" spc="14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Understand the real drivers of risk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5282565"/>
              <a:ext cx="4901184" cy="1292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40"/>
                </a:lnSpc>
              </a:pPr>
              <a:r>
                <a:rPr lang="en-US" sz="2814" spc="14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Get clear AI reasoning you can trust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7038213"/>
              <a:ext cx="5145024" cy="1292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40"/>
                </a:lnSpc>
              </a:pPr>
              <a:r>
                <a:rPr lang="en-US" sz="2814" spc="14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Act with recommended steps and priority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5216" y="732350"/>
            <a:ext cx="9692640" cy="146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4"/>
              </a:lnSpc>
            </a:pPr>
            <a:r>
              <a:rPr lang="en-US" sz="1100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IBM </a:t>
            </a:r>
            <a:r>
              <a:rPr lang="en-US" sz="11004">
                <a:solidFill>
                  <a:srgbClr val="E47027"/>
                </a:solidFill>
                <a:latin typeface="Anton"/>
                <a:ea typeface="Anton"/>
                <a:cs typeface="Anton"/>
                <a:sym typeface="Anton"/>
              </a:rPr>
              <a:t>TECHNOLOGIES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5216" y="2065496"/>
            <a:ext cx="6528816" cy="524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Powering GridPulse AI end to end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1248" y="2997994"/>
            <a:ext cx="1426464" cy="50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2"/>
              </a:lnSpc>
            </a:pPr>
            <a:r>
              <a:rPr lang="en-US" sz="2737" b="true">
                <a:solidFill>
                  <a:srgbClr val="E47027"/>
                </a:solidFill>
                <a:latin typeface="Poppins Bold"/>
                <a:ea typeface="Poppins Bold"/>
                <a:cs typeface="Poppins Bold"/>
                <a:sym typeface="Poppins Bold"/>
              </a:rPr>
              <a:t>IBM Bob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1248" y="3526575"/>
            <a:ext cx="4681728" cy="7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7"/>
              </a:lnSpc>
            </a:pPr>
            <a:r>
              <a:rPr lang="en-US" sz="229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AI-assisted development that accelerates and elevates delivery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1248" y="4674775"/>
            <a:ext cx="2724912" cy="50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2"/>
              </a:lnSpc>
            </a:pPr>
            <a:r>
              <a:rPr lang="en-US" sz="2737" b="true">
                <a:solidFill>
                  <a:srgbClr val="E47027"/>
                </a:solidFill>
                <a:latin typeface="Poppins Bold"/>
                <a:ea typeface="Poppins Bold"/>
                <a:cs typeface="Poppins Bold"/>
                <a:sym typeface="Poppins Bold"/>
              </a:rPr>
              <a:t>IBM watsonx.ai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1248" y="5213643"/>
            <a:ext cx="4553712" cy="7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7"/>
              </a:lnSpc>
            </a:pPr>
            <a:r>
              <a:rPr lang="en-US" sz="229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AI reasoning and advisory layer that turns data into insight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1248" y="6437471"/>
            <a:ext cx="2304288" cy="524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true">
                <a:solidFill>
                  <a:srgbClr val="E47027"/>
                </a:solidFill>
                <a:latin typeface="Poppins Bold"/>
                <a:ea typeface="Poppins Bold"/>
                <a:cs typeface="Poppins Bold"/>
                <a:sym typeface="Poppins Bold"/>
              </a:rPr>
              <a:t>IBM Granite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1248" y="6983007"/>
            <a:ext cx="4681728" cy="7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7"/>
              </a:lnSpc>
            </a:pPr>
            <a:r>
              <a:rPr lang="en-US" sz="229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LLM-powered recommendations grounded in grid knowledge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1248" y="8227409"/>
            <a:ext cx="4261104" cy="524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true">
                <a:solidFill>
                  <a:srgbClr val="E47027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workflow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1248" y="8793519"/>
            <a:ext cx="5230368" cy="7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7"/>
              </a:lnSpc>
            </a:pPr>
            <a:r>
              <a:rPr lang="en-US" sz="229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Integrated into risk detection, explanation, and decision workflows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096000" y="2781300"/>
            <a:ext cx="3924300" cy="1076325"/>
          </a:xfrm>
          <a:custGeom>
            <a:avLst/>
            <a:gdLst/>
            <a:ahLst/>
            <a:cxnLst/>
            <a:rect r="r" b="b" t="t" l="l"/>
            <a:pathLst>
              <a:path h="1076325" w="3924300">
                <a:moveTo>
                  <a:pt x="0" y="0"/>
                </a:moveTo>
                <a:lnTo>
                  <a:pt x="3924300" y="0"/>
                </a:lnTo>
                <a:lnTo>
                  <a:pt x="3924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096000" y="4286250"/>
            <a:ext cx="3924300" cy="1076325"/>
          </a:xfrm>
          <a:custGeom>
            <a:avLst/>
            <a:gdLst/>
            <a:ahLst/>
            <a:cxnLst/>
            <a:rect r="r" b="b" t="t" l="l"/>
            <a:pathLst>
              <a:path h="1076325" w="3924300">
                <a:moveTo>
                  <a:pt x="0" y="0"/>
                </a:moveTo>
                <a:lnTo>
                  <a:pt x="3924300" y="0"/>
                </a:lnTo>
                <a:lnTo>
                  <a:pt x="3924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096000" y="5781675"/>
            <a:ext cx="3924300" cy="1295400"/>
          </a:xfrm>
          <a:custGeom>
            <a:avLst/>
            <a:gdLst/>
            <a:ahLst/>
            <a:cxnLst/>
            <a:rect r="r" b="b" t="t" l="l"/>
            <a:pathLst>
              <a:path h="1295400" w="3924300">
                <a:moveTo>
                  <a:pt x="0" y="0"/>
                </a:moveTo>
                <a:lnTo>
                  <a:pt x="3924300" y="0"/>
                </a:lnTo>
                <a:lnTo>
                  <a:pt x="39243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096000" y="7286625"/>
            <a:ext cx="3705225" cy="1504950"/>
          </a:xfrm>
          <a:custGeom>
            <a:avLst/>
            <a:gdLst/>
            <a:ahLst/>
            <a:cxnLst/>
            <a:rect r="r" b="b" t="t" l="l"/>
            <a:pathLst>
              <a:path h="1504950" w="3705225">
                <a:moveTo>
                  <a:pt x="0" y="0"/>
                </a:moveTo>
                <a:lnTo>
                  <a:pt x="3705225" y="0"/>
                </a:lnTo>
                <a:lnTo>
                  <a:pt x="37052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791700" y="1495425"/>
            <a:ext cx="7629525" cy="3009900"/>
          </a:xfrm>
          <a:custGeom>
            <a:avLst/>
            <a:gdLst/>
            <a:ahLst/>
            <a:cxnLst/>
            <a:rect r="r" b="b" t="t" l="l"/>
            <a:pathLst>
              <a:path h="3009900" w="7629525">
                <a:moveTo>
                  <a:pt x="0" y="0"/>
                </a:moveTo>
                <a:lnTo>
                  <a:pt x="7629525" y="0"/>
                </a:lnTo>
                <a:lnTo>
                  <a:pt x="762952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791700" y="3429000"/>
            <a:ext cx="7629525" cy="2571750"/>
          </a:xfrm>
          <a:custGeom>
            <a:avLst/>
            <a:gdLst/>
            <a:ahLst/>
            <a:cxnLst/>
            <a:rect r="r" b="b" t="t" l="l"/>
            <a:pathLst>
              <a:path h="2571750" w="7629525">
                <a:moveTo>
                  <a:pt x="0" y="0"/>
                </a:moveTo>
                <a:lnTo>
                  <a:pt x="7629525" y="0"/>
                </a:lnTo>
                <a:lnTo>
                  <a:pt x="762952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791700" y="4924425"/>
            <a:ext cx="7629525" cy="2581275"/>
          </a:xfrm>
          <a:custGeom>
            <a:avLst/>
            <a:gdLst/>
            <a:ahLst/>
            <a:cxnLst/>
            <a:rect r="r" b="b" t="t" l="l"/>
            <a:pathLst>
              <a:path h="2581275" w="7629525">
                <a:moveTo>
                  <a:pt x="0" y="0"/>
                </a:moveTo>
                <a:lnTo>
                  <a:pt x="7629525" y="0"/>
                </a:lnTo>
                <a:lnTo>
                  <a:pt x="762952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791700" y="6429375"/>
            <a:ext cx="7848600" cy="3857625"/>
          </a:xfrm>
          <a:custGeom>
            <a:avLst/>
            <a:gdLst/>
            <a:ahLst/>
            <a:cxnLst/>
            <a:rect r="r" b="b" t="t" l="l"/>
            <a:pathLst>
              <a:path h="3857625" w="7848600">
                <a:moveTo>
                  <a:pt x="0" y="0"/>
                </a:moveTo>
                <a:lnTo>
                  <a:pt x="7848600" y="0"/>
                </a:lnTo>
                <a:lnTo>
                  <a:pt x="7848600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192000" y="7286625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020925" y="8353425"/>
            <a:ext cx="438150" cy="219075"/>
          </a:xfrm>
          <a:custGeom>
            <a:avLst/>
            <a:gdLst/>
            <a:ahLst/>
            <a:cxnLst/>
            <a:rect r="r" b="b" t="t" l="l"/>
            <a:pathLst>
              <a:path h="219075" w="438150">
                <a:moveTo>
                  <a:pt x="0" y="0"/>
                </a:moveTo>
                <a:lnTo>
                  <a:pt x="438150" y="0"/>
                </a:lnTo>
                <a:lnTo>
                  <a:pt x="438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716000" y="7924800"/>
            <a:ext cx="219075" cy="219075"/>
          </a:xfrm>
          <a:custGeom>
            <a:avLst/>
            <a:gdLst/>
            <a:ahLst/>
            <a:cxnLst/>
            <a:rect r="r" b="b" t="t" l="l"/>
            <a:pathLst>
              <a:path h="219075" w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877550" y="6858000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1080000">
            <a:off x="10949537" y="8475461"/>
            <a:ext cx="2377440" cy="40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2"/>
              </a:lnSpc>
            </a:pPr>
            <a:r>
              <a:rPr lang="en-US" sz="29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GRID</a:t>
            </a:r>
            <a:r>
              <a:rPr lang="en-US" sz="2962">
                <a:solidFill>
                  <a:srgbClr val="E47027"/>
                </a:solidFill>
                <a:latin typeface="Poppins"/>
                <a:ea typeface="Poppins"/>
                <a:cs typeface="Poppins"/>
                <a:sym typeface="Poppins"/>
              </a:rPr>
              <a:t>PULSE AI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8096" y="1304299"/>
            <a:ext cx="12684480" cy="1203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39"/>
              </a:lnSpc>
            </a:pPr>
            <a:r>
              <a:rPr lang="en-US" sz="913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RESULTS &amp; </a:t>
            </a:r>
            <a:r>
              <a:rPr lang="en-US" sz="9139">
                <a:solidFill>
                  <a:srgbClr val="F47621"/>
                </a:solidFill>
                <a:latin typeface="Anton"/>
                <a:ea typeface="Anton"/>
                <a:cs typeface="Anton"/>
                <a:sym typeface="Anton"/>
              </a:rPr>
              <a:t>IMPACT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4128" y="3442331"/>
            <a:ext cx="1536192" cy="131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5"/>
              </a:lnSpc>
            </a:pPr>
            <a:r>
              <a:rPr lang="en-US" sz="9945">
                <a:solidFill>
                  <a:srgbClr val="F47621"/>
                </a:solidFill>
                <a:latin typeface="Anton"/>
                <a:ea typeface="Anton"/>
                <a:cs typeface="Anton"/>
                <a:sym typeface="Anton"/>
              </a:rPr>
              <a:t>95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3610" y="4885754"/>
            <a:ext cx="187814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sz="25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automated tests passed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828925" y="3209925"/>
            <a:ext cx="219075" cy="3009900"/>
          </a:xfrm>
          <a:custGeom>
            <a:avLst/>
            <a:gdLst/>
            <a:ahLst/>
            <a:cxnLst/>
            <a:rect r="r" b="b" t="t" l="l"/>
            <a:pathLst>
              <a:path h="3009900" w="219075">
                <a:moveTo>
                  <a:pt x="0" y="0"/>
                </a:moveTo>
                <a:lnTo>
                  <a:pt x="219075" y="0"/>
                </a:lnTo>
                <a:lnTo>
                  <a:pt x="21907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12464" y="3445875"/>
            <a:ext cx="2816352" cy="132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41"/>
              </a:lnSpc>
            </a:pPr>
            <a:r>
              <a:rPr lang="en-US" sz="10041">
                <a:solidFill>
                  <a:srgbClr val="F47621"/>
                </a:solidFill>
                <a:latin typeface="Anton"/>
                <a:ea typeface="Anton"/>
                <a:cs typeface="Anton"/>
                <a:sym typeface="Anton"/>
              </a:rPr>
              <a:t>48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93733" y="4885754"/>
            <a:ext cx="2261235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sz="25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hour crew</a:t>
            </a:r>
          </a:p>
          <a:p>
            <a:pPr algn="ctr">
              <a:lnSpc>
                <a:spcPts val="3023"/>
              </a:lnSpc>
            </a:pPr>
            <a:r>
              <a:rPr lang="en-US" sz="25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pre-positioning concept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657850" y="3209925"/>
            <a:ext cx="228600" cy="3009900"/>
          </a:xfrm>
          <a:custGeom>
            <a:avLst/>
            <a:gdLst/>
            <a:ahLst/>
            <a:cxnLst/>
            <a:rect r="r" b="b" t="t" l="l"/>
            <a:pathLst>
              <a:path h="3009900" w="228600">
                <a:moveTo>
                  <a:pt x="0" y="0"/>
                </a:moveTo>
                <a:lnTo>
                  <a:pt x="228600" y="0"/>
                </a:lnTo>
                <a:lnTo>
                  <a:pt x="228600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28816" y="3427202"/>
            <a:ext cx="896112" cy="1368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86"/>
              </a:lnSpc>
            </a:pPr>
            <a:r>
              <a:rPr lang="en-US" sz="10386">
                <a:solidFill>
                  <a:srgbClr val="F47621"/>
                </a:solidFill>
                <a:latin typeface="Anton"/>
                <a:ea typeface="Anton"/>
                <a:cs typeface="Anton"/>
                <a:sym typeface="Anton"/>
              </a:rPr>
              <a:t>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43625" y="4885754"/>
            <a:ext cx="1648206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sz="25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evidence</a:t>
            </a:r>
          </a:p>
          <a:p>
            <a:pPr algn="ctr">
              <a:lnSpc>
                <a:spcPts val="3023"/>
              </a:lnSpc>
            </a:pPr>
            <a:r>
              <a:rPr lang="en-US" sz="25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layers</a:t>
            </a:r>
          </a:p>
          <a:p>
            <a:pPr algn="ctr">
              <a:lnSpc>
                <a:spcPts val="3023"/>
              </a:lnSpc>
            </a:pPr>
            <a:r>
              <a:rPr lang="en-US" sz="25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combined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829550" y="3209925"/>
            <a:ext cx="228600" cy="3009900"/>
          </a:xfrm>
          <a:custGeom>
            <a:avLst/>
            <a:gdLst/>
            <a:ahLst/>
            <a:cxnLst/>
            <a:rect r="r" b="b" t="t" l="l"/>
            <a:pathLst>
              <a:path h="3009900" w="228600">
                <a:moveTo>
                  <a:pt x="0" y="0"/>
                </a:moveTo>
                <a:lnTo>
                  <a:pt x="228600" y="0"/>
                </a:lnTo>
                <a:lnTo>
                  <a:pt x="228600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089136" y="3427202"/>
            <a:ext cx="753519" cy="1368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86"/>
              </a:lnSpc>
            </a:pPr>
            <a:r>
              <a:rPr lang="en-US" sz="10386">
                <a:solidFill>
                  <a:srgbClr val="F47621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41386" y="4876229"/>
            <a:ext cx="1972818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sz="25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unified</a:t>
            </a:r>
          </a:p>
          <a:p>
            <a:pPr algn="ctr">
              <a:lnSpc>
                <a:spcPts val="3023"/>
              </a:lnSpc>
            </a:pPr>
            <a:r>
              <a:rPr lang="en-US" sz="25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operator</a:t>
            </a:r>
          </a:p>
          <a:p>
            <a:pPr algn="ctr">
              <a:lnSpc>
                <a:spcPts val="3023"/>
              </a:lnSpc>
            </a:pPr>
            <a:r>
              <a:rPr lang="en-US" sz="25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decision view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47700" y="6638925"/>
            <a:ext cx="9810750" cy="219075"/>
          </a:xfrm>
          <a:custGeom>
            <a:avLst/>
            <a:gdLst/>
            <a:ahLst/>
            <a:cxnLst/>
            <a:rect r="r" b="b" t="t" l="l"/>
            <a:pathLst>
              <a:path h="219075" w="9810750">
                <a:moveTo>
                  <a:pt x="0" y="0"/>
                </a:moveTo>
                <a:lnTo>
                  <a:pt x="9810750" y="0"/>
                </a:lnTo>
                <a:lnTo>
                  <a:pt x="9810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22960" y="7296721"/>
            <a:ext cx="424281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5"/>
              </a:lnSpc>
            </a:pPr>
            <a:r>
              <a:rPr lang="en-US" sz="2737" spc="-82" b="true">
                <a:solidFill>
                  <a:srgbClr val="F47621"/>
                </a:solidFill>
                <a:latin typeface="Poppins Bold"/>
                <a:ea typeface="Poppins Bold"/>
                <a:cs typeface="Poppins Bold"/>
                <a:sym typeface="Poppins Bold"/>
              </a:rPr>
              <a:t>expected impact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9927" y="8105584"/>
            <a:ext cx="1450848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5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earlier</a:t>
            </a:r>
          </a:p>
          <a:p>
            <a:pPr algn="l">
              <a:lnSpc>
                <a:spcPts val="3023"/>
              </a:lnSpc>
            </a:pPr>
            <a:r>
              <a:rPr lang="en-US" sz="25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failure</a:t>
            </a:r>
          </a:p>
          <a:p>
            <a:pPr algn="l">
              <a:lnSpc>
                <a:spcPts val="3023"/>
              </a:lnSpc>
            </a:pPr>
            <a:r>
              <a:rPr lang="en-US" sz="25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detection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390775" y="83534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273552" y="8105584"/>
            <a:ext cx="2181416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5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better</a:t>
            </a:r>
          </a:p>
          <a:p>
            <a:pPr algn="l">
              <a:lnSpc>
                <a:spcPts val="3023"/>
              </a:lnSpc>
            </a:pPr>
            <a:r>
              <a:rPr lang="en-US" sz="25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maintenance</a:t>
            </a:r>
          </a:p>
          <a:p>
            <a:pPr algn="l">
              <a:lnSpc>
                <a:spcPts val="3023"/>
              </a:lnSpc>
            </a:pPr>
            <a:r>
              <a:rPr lang="en-US" sz="25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prioritization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5219700" y="83534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181344" y="8105584"/>
            <a:ext cx="1438656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5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faster</a:t>
            </a:r>
          </a:p>
          <a:p>
            <a:pPr algn="l">
              <a:lnSpc>
                <a:spcPts val="3023"/>
              </a:lnSpc>
            </a:pPr>
            <a:r>
              <a:rPr lang="en-US" sz="25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field</a:t>
            </a:r>
          </a:p>
          <a:p>
            <a:pPr algn="l">
              <a:lnSpc>
                <a:spcPts val="3023"/>
              </a:lnSpc>
            </a:pPr>
            <a:r>
              <a:rPr lang="en-US" sz="25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response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7620000" y="83534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650224" y="8105584"/>
            <a:ext cx="2257882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5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reduced</a:t>
            </a:r>
          </a:p>
          <a:p>
            <a:pPr algn="l">
              <a:lnSpc>
                <a:spcPts val="3023"/>
              </a:lnSpc>
            </a:pPr>
            <a:r>
              <a:rPr lang="en-US" sz="25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avoidable</a:t>
            </a:r>
          </a:p>
          <a:p>
            <a:pPr algn="l">
              <a:lnSpc>
                <a:spcPts val="3023"/>
              </a:lnSpc>
            </a:pPr>
            <a:r>
              <a:rPr lang="en-US" sz="25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outage risk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35040" y="1945704"/>
            <a:ext cx="12252960" cy="8341296"/>
          </a:xfrm>
          <a:custGeom>
            <a:avLst/>
            <a:gdLst/>
            <a:ahLst/>
            <a:cxnLst/>
            <a:rect r="r" b="b" t="t" l="l"/>
            <a:pathLst>
              <a:path h="8341296" w="12252960">
                <a:moveTo>
                  <a:pt x="0" y="0"/>
                </a:moveTo>
                <a:lnTo>
                  <a:pt x="12252960" y="0"/>
                </a:lnTo>
                <a:lnTo>
                  <a:pt x="12252960" y="8341296"/>
                </a:lnTo>
                <a:lnTo>
                  <a:pt x="0" y="8341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34" r="-1562" b="-23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22960" y="1089644"/>
            <a:ext cx="11635460" cy="1648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1"/>
              </a:lnSpc>
            </a:pPr>
            <a:r>
              <a:rPr lang="en-US" sz="1202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12021">
                <a:solidFill>
                  <a:srgbClr val="F586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2960" y="3402971"/>
            <a:ext cx="3913632" cy="464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spc="62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Darshan Thummar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2960" y="3927940"/>
            <a:ext cx="6583680" cy="37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3"/>
              </a:lnSpc>
            </a:pPr>
            <a:r>
              <a:rPr lang="en-US" sz="2693" spc="5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Lead, Full Stack &amp; AI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2960" y="4647698"/>
            <a:ext cx="3785616" cy="464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spc="62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Shreeja Upadhyay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2960" y="5172667"/>
            <a:ext cx="3822192" cy="37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3"/>
              </a:lnSpc>
            </a:pPr>
            <a:r>
              <a:rPr lang="en-US" sz="2693" spc="5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&amp; Risk Engine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2960" y="5902712"/>
            <a:ext cx="3218688" cy="464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spc="62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Kishan Vadsola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2960" y="6427681"/>
            <a:ext cx="3913632" cy="37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3"/>
              </a:lnSpc>
            </a:pPr>
            <a:r>
              <a:rPr lang="en-US" sz="2693" spc="5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&amp; Dashboard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2960" y="7168013"/>
            <a:ext cx="2926080" cy="464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spc="62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Vishv Undavia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2960" y="7692982"/>
            <a:ext cx="5212080" cy="37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3"/>
              </a:lnSpc>
            </a:pPr>
            <a:r>
              <a:rPr lang="en-US" sz="2693" spc="5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Integration, Testing &amp; Demo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2960" y="8447194"/>
            <a:ext cx="7333488" cy="55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3"/>
              </a:lnSpc>
            </a:pPr>
            <a:r>
              <a:rPr lang="en-US" sz="4023">
                <a:solidFill>
                  <a:srgbClr val="F586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Detect. Explain. Prioritize. 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DAHVKJZMpA0</dc:identifier>
  <dcterms:modified xsi:type="dcterms:W3CDTF">2011-08-01T06:04:30Z</dcterms:modified>
  <cp:revision>1</cp:revision>
  <dc:title>Darshan Thummar , Kishan Vadsoal , Vishv Undavia , Shreeja Updhayay</dc:title>
</cp:coreProperties>
</file>